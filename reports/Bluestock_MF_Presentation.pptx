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749808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50876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Mutual Fund Analytics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13232" y="23317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4ED8"/>
                </a:solidFill>
              </a:rPr>
              <a:t>Bluestock Fintech Internship Capstone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3232" y="2999232"/>
            <a:ext cx="6035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</a:rPr>
              <a:t>End-to-end analytics platform covering data ingestion, ETL, SQL, EDA, fund performance, risk metrics, investor behaviour and Power BI dashboards.</a:t>
            </a:r>
            <a:endParaRPr lang="en-US" sz="1900" dirty="0"/>
          </a:p>
        </p:txBody>
      </p:sp>
      <p:pic>
        <p:nvPicPr>
          <p:cNvPr id="6" name="Image 1" descr="/mnt/data/_report_assets/industry_dashboard.png">    </p:cNvPr>
          <p:cNvPicPr>
            <a:picLocks noChangeAspect="1"/>
          </p:cNvPicPr>
          <p:nvPr/>
        </p:nvPicPr>
        <p:blipFill>
          <a:blip r:embed="rId2"/>
          <a:srcRect l="20463" r="20463" t="0" b="0"/>
          <a:stretch/>
        </p:blipFill>
        <p:spPr>
          <a:xfrm>
            <a:off x="6903720" y="960120"/>
            <a:ext cx="4709160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59253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Prepared by: Doddi Satya Sai Sri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2/12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6928" y="960120"/>
            <a:ext cx="310896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66928" y="1444752"/>
            <a:ext cx="42519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Mutual fund decisions cannot depend only on absolute returns. Analysts need a combined view of risk, return, benchmark performance, investor behaviour and portfolio concentration.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577840" y="941832"/>
            <a:ext cx="26974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941832"/>
            <a:ext cx="73152" cy="1261872"/>
          </a:xfrm>
          <a:prstGeom prst="rect">
            <a:avLst/>
          </a:prstGeom>
          <a:solidFill>
            <a:srgbClr val="1C4ED8"/>
          </a:solidFill>
          <a:ln w="12700">
            <a:solidFill>
              <a:srgbClr val="1C4ED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79008" y="1106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D8"/>
                </a:solidFill>
              </a:rPr>
              <a:t>Objective 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79008" y="1426464"/>
            <a:ext cx="2377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Prepare a clean, validated dataset pipeline from raw mutual fund files and NAV history.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485632" y="941832"/>
            <a:ext cx="26974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85632" y="941832"/>
            <a:ext cx="73152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0" y="1106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Objective 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0" y="1426464"/>
            <a:ext cx="2377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Build analytical notebooks for EDA, performance scoring, risk metrics and investor analysis.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577840" y="2514600"/>
            <a:ext cx="26974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77840" y="2514600"/>
            <a:ext cx="73152" cy="1261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79008" y="2679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Objective 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79008" y="2999232"/>
            <a:ext cx="2377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Develop Power BI dashboards with KPIs, slicers, tooltips and fund drill-through.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8485632" y="2514600"/>
            <a:ext cx="26974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85632" y="2514600"/>
            <a:ext cx="73152" cy="1261872"/>
          </a:xfrm>
          <a:prstGeom prst="rect">
            <a:avLst/>
          </a:prstGeom>
          <a:solidFill>
            <a:srgbClr val="1C4ED8"/>
          </a:solidFill>
          <a:ln w="12700">
            <a:solidFill>
              <a:srgbClr val="1C4ED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0" y="2679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D8"/>
                </a:solidFill>
              </a:rPr>
              <a:t>Objective 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86800" y="2999232"/>
            <a:ext cx="23774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Deliver report, presentation and GitHub-ready project package.</a:t>
            </a:r>
            <a:endParaRPr lang="en-US" sz="1550" dirty="0"/>
          </a:p>
        </p:txBody>
      </p:sp>
      <p:pic>
        <p:nvPicPr>
          <p:cNvPr id="25" name="Image 1" descr="/mnt/data/_report_asset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344" y="4526280"/>
            <a:ext cx="3520271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3/12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85800" y="1005840"/>
            <a:ext cx="512064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Fund master: AMFI code, scheme, AMC, category, plan, benchmark and risk class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NAV history: scheme-wise NAV values for return, VaR, CVaR and Sharpe calculations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Investor transactions: SIP, lumpsum and redemption data with demographics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Performance metrics: return, Sharpe, Sortino, Alpha, Beta, drawdown and scoring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Portfolio holdings and benchmark indices for concentration and comparison analysis</a:t>
            </a:r>
            <a:endParaRPr lang="en-US" sz="1800" dirty="0"/>
          </a:p>
        </p:txBody>
      </p:sp>
      <p:pic>
        <p:nvPicPr>
          <p:cNvPr id="8" name="Image 1" descr="/mnt/data/_report_assets/investor_dashboard.png">    </p:cNvPr>
          <p:cNvPicPr>
            <a:picLocks noChangeAspect="1"/>
          </p:cNvPicPr>
          <p:nvPr/>
        </p:nvPicPr>
        <p:blipFill>
          <a:blip r:embed="rId2"/>
          <a:srcRect l="0" r="0" t="1267" b="1267"/>
          <a:stretch/>
        </p:blipFill>
        <p:spPr>
          <a:xfrm>
            <a:off x="6236208" y="914400"/>
            <a:ext cx="5257800" cy="2880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5800" y="470916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2104" y="4901184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4ED8"/>
                </a:solidFill>
              </a:rPr>
              <a:t>40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32104" y="530352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Schemes in performance dataset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154680" y="470916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00984" y="4901184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~46K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300984" y="530352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NAV history observations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23560" y="470916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69864" y="4901184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</a:rPr>
              <a:t>~32K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5769864" y="530352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Investor transactions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92440" y="4709160"/>
            <a:ext cx="2148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38744" y="4901184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4ED8"/>
                </a:solidFill>
              </a:rPr>
              <a:t>10+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8238744" y="5303520"/>
            <a:ext cx="1892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Raw / processed data files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4/12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49808" y="841248"/>
            <a:ext cx="90525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follows an end-to-end analytics pipeline from ingestion to final stakeholder reporting.</a:t>
            </a:r>
            <a:endParaRPr lang="en-US" sz="1800" dirty="0"/>
          </a:p>
        </p:txBody>
      </p:sp>
      <p:pic>
        <p:nvPicPr>
          <p:cNvPr id="8" name="Image 1" descr="/mnt/data/_report_assets/architec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99599"/>
            <a:ext cx="11064240" cy="359245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2688" y="548640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" y="5486400"/>
            <a:ext cx="73152" cy="749808"/>
          </a:xfrm>
          <a:prstGeom prst="rect">
            <a:avLst/>
          </a:prstGeom>
          <a:solidFill>
            <a:srgbClr val="1C4ED8"/>
          </a:solidFill>
          <a:ln w="12700">
            <a:solidFill>
              <a:srgbClr val="1C4ED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33856" y="5650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D8"/>
                </a:solidFill>
              </a:rPr>
              <a:t>Delivery Layer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33856" y="5971032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GitHub repository, Power BI exports, analytical CSVs, final report and presentation.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4590288" y="548640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90288" y="5486400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91456" y="5650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Analytics Layer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91456" y="5971032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Python notebooks produce EDA, performance scoring, risk metrics, cohorts and recommendations.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8247888" y="5486400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47888" y="5486400"/>
            <a:ext cx="73152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49056" y="56509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Visualization Layer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449056" y="5971032"/>
            <a:ext cx="26060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Power BI gives KPI cards, slicers, tooltips and drill-through views.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 — Industry 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5/12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pic>
        <p:nvPicPr>
          <p:cNvPr id="7" name="Image 1" descr="/mnt/data/_report_assets/industry_dashboard.png">    </p:cNvPr>
          <p:cNvPicPr>
            <a:picLocks noChangeAspect="1"/>
          </p:cNvPicPr>
          <p:nvPr/>
        </p:nvPicPr>
        <p:blipFill>
          <a:blip r:embed="rId2"/>
          <a:srcRect l="5290" r="5290" t="0" b="0"/>
          <a:stretch/>
        </p:blipFill>
        <p:spPr>
          <a:xfrm>
            <a:off x="594360" y="914400"/>
            <a:ext cx="640080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0" y="1051560"/>
            <a:ext cx="3931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overview shows core industry KPIs with AUM trend and AMC-wise distribution.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7315200" y="205740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61504" y="2249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4ED8"/>
                </a:solidFill>
              </a:rPr>
              <a:t>₹81L Cr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7461504" y="2651760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Total AUM KPI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326880" y="205740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73184" y="224942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</a:rPr>
              <a:t>31K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9473184" y="2651760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Latest SIP inflow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315200" y="333756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61504" y="352958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1,908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461504" y="3931920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Schemes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326880" y="3337560"/>
            <a:ext cx="16916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473184" y="3529584"/>
            <a:ext cx="1435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4ED8"/>
                </a:solidFill>
              </a:rPr>
              <a:t>26.12 Cr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9473184" y="3931920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Folios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8580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EDA signal: AUM and SIP metrics show strong retail participation and increasing industry depth.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 — Investor Behaviour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6/12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pic>
        <p:nvPicPr>
          <p:cNvPr id="7" name="Image 1" descr="/mnt/data/_report_assets/investor_dashboard.png">    </p:cNvPr>
          <p:cNvPicPr>
            <a:picLocks noChangeAspect="1"/>
          </p:cNvPicPr>
          <p:nvPr/>
        </p:nvPicPr>
        <p:blipFill>
          <a:blip r:embed="rId2"/>
          <a:srcRect l="4652" r="4652" t="0" b="0"/>
          <a:stretch/>
        </p:blipFill>
        <p:spPr>
          <a:xfrm>
            <a:off x="594360" y="914400"/>
            <a:ext cx="649224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005840"/>
            <a:ext cx="374904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800" dirty="0">
                <a:solidFill>
                  <a:srgbClr val="0F172A"/>
                </a:solidFill>
              </a:rPr>
              <a:t>Transaction behaviour was analysed by state, age group, city tier and transaction type.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SIP, Lumpsum and Redemption splits show how investors participate across modes.</a:t>
            </a:r>
            <a:endParaRPr lang="en-US" sz="1800" dirty="0"/>
          </a:p>
          <a:p>
            <a:r>
              <a:rPr lang="en-US" sz="1800" dirty="0">
                <a:solidFill>
                  <a:srgbClr val="0F172A"/>
                </a:solidFill>
              </a:rPr>
              <a:t>Age-group and state views help identify investor segments with higher investment amounts.</a:t>
            </a:r>
            <a:endParaRPr lang="en-US" sz="1800" dirty="0"/>
          </a:p>
        </p:txBody>
      </p:sp>
      <p:pic>
        <p:nvPicPr>
          <p:cNvPr id="9" name="Image 2" descr="/mnt/data/_report_assets/cohort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921" y="3794760"/>
            <a:ext cx="2992478" cy="1508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4928" y="5486400"/>
            <a:ext cx="3703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analysis later compares 2024 vs 2025 investor behaviour.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7/12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pic>
        <p:nvPicPr>
          <p:cNvPr id="7" name="Image 1" descr="/mnt/data/_report_assets/performance_dashboard.png">    </p:cNvPr>
          <p:cNvPicPr>
            <a:picLocks noChangeAspect="1"/>
          </p:cNvPicPr>
          <p:nvPr/>
        </p:nvPicPr>
        <p:blipFill>
          <a:blip r:embed="rId2"/>
          <a:srcRect l="4761" r="4761" t="0" b="0"/>
          <a:stretch/>
        </p:blipFill>
        <p:spPr>
          <a:xfrm>
            <a:off x="566928" y="960120"/>
            <a:ext cx="6035040" cy="3749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9440" y="960120"/>
            <a:ext cx="4389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Risk-adjusted scoring combines return, Sharpe, Sortino, Alpha, drawdown and expense measures.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7022592" y="192024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22592" y="1920240"/>
            <a:ext cx="73152" cy="822960"/>
          </a:xfrm>
          <a:prstGeom prst="rect">
            <a:avLst/>
          </a:prstGeom>
          <a:solidFill>
            <a:srgbClr val="1C4ED8"/>
          </a:solidFill>
          <a:ln w="12700">
            <a:solidFill>
              <a:srgbClr val="1C4ED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23760" y="20848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D8"/>
                </a:solidFill>
              </a:rPr>
              <a:t>Top Ranked Fund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223760" y="2404872"/>
            <a:ext cx="3429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Mirae Asset Large Cap Fund – Regular – Growth ranked #1 by composite fund score.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022592" y="29718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22592" y="297180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23760" y="31363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223760" y="3456432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High return alone is not enough. Strong funds should balance performance with lower volatility and better risk-adjusted return.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7022592" y="420624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22592" y="4206240"/>
            <a:ext cx="73152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23760" y="43708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Dashboard Output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223760" y="4690872"/>
            <a:ext cx="3429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Fund Performance page enables scatter analysis, scorecard sorting, slicers and NAV vs benchmark trend.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685800" y="5321808"/>
            <a:ext cx="10515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analytical goal: compare funds across return and risk, not only absolute return.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Risk Analytics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8/12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pic>
        <p:nvPicPr>
          <p:cNvPr id="7" name="Image 1" descr="/mnt/data/_report_assets/var_cvar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31" y="914400"/>
            <a:ext cx="4723458" cy="2240280"/>
          </a:xfrm>
          <a:prstGeom prst="rect">
            <a:avLst/>
          </a:prstGeom>
        </p:spPr>
      </p:pic>
      <p:pic>
        <p:nvPicPr>
          <p:cNvPr id="8" name="Image 2" descr="/mnt/data/_report_assets/hhi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966" y="3520440"/>
            <a:ext cx="4080589" cy="20116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5080" y="987552"/>
            <a:ext cx="493776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50" dirty="0">
                <a:solidFill>
                  <a:srgbClr val="0F172A"/>
                </a:solidFill>
              </a:rPr>
              <a:t>VaR/CVaR quantify downside risk from daily return distribution.</a:t>
            </a:r>
            <a:endParaRPr lang="en-US" sz="1750" dirty="0"/>
          </a:p>
          <a:p>
            <a:r>
              <a:rPr lang="en-US" sz="1750" dirty="0">
                <a:solidFill>
                  <a:srgbClr val="0F172A"/>
                </a:solidFill>
              </a:rPr>
              <a:t>Rolling 90-day Sharpe tracks time-varying risk-adjusted performance.</a:t>
            </a:r>
            <a:endParaRPr lang="en-US" sz="1750" dirty="0"/>
          </a:p>
          <a:p>
            <a:r>
              <a:rPr lang="en-US" sz="1750" dirty="0">
                <a:solidFill>
                  <a:srgbClr val="0F172A"/>
                </a:solidFill>
              </a:rPr>
              <a:t>SIP continuity identifies investors with irregular contribution gaps.</a:t>
            </a:r>
            <a:endParaRPr lang="en-US" sz="1750" dirty="0"/>
          </a:p>
          <a:p>
            <a:r>
              <a:rPr lang="en-US" sz="1750" dirty="0">
                <a:solidFill>
                  <a:srgbClr val="0F172A"/>
                </a:solidFill>
              </a:rPr>
              <a:t>HHI measures concentration risk using sector portfolio weights.</a:t>
            </a:r>
            <a:endParaRPr lang="en-US" sz="1750" dirty="0"/>
          </a:p>
          <a:p>
            <a:r>
              <a:rPr lang="en-US" sz="1750" dirty="0">
                <a:solidFill>
                  <a:srgbClr val="0F172A"/>
                </a:solidFill>
              </a:rPr>
              <a:t>Recommender ranks funds by Sharpe ratio within risk appetite.</a:t>
            </a:r>
            <a:endParaRPr lang="en-US" sz="1750" dirty="0"/>
          </a:p>
        </p:txBody>
      </p:sp>
      <p:sp>
        <p:nvSpPr>
          <p:cNvPr id="10" name="Shape 5"/>
          <p:cNvSpPr/>
          <p:nvPr/>
        </p:nvSpPr>
        <p:spPr>
          <a:xfrm>
            <a:off x="6400800" y="4251960"/>
            <a:ext cx="4526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400800" y="4251960"/>
            <a:ext cx="73152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601968" y="4416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Highest HHI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601968" y="4736592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Axis Bluechip Fund – Regular – Growth showed the highest sector concentration in available holdings.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0" y="5394960"/>
            <a:ext cx="4526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0" y="5394960"/>
            <a:ext cx="73152" cy="685800"/>
          </a:xfrm>
          <a:prstGeom prst="rect">
            <a:avLst/>
          </a:prstGeom>
          <a:solidFill>
            <a:srgbClr val="1C4ED8"/>
          </a:solidFill>
          <a:ln w="12700">
            <a:solidFill>
              <a:srgbClr val="1C4ED8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601968" y="55595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4ED8"/>
                </a:solidFill>
              </a:rPr>
              <a:t>Risk Insight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601968" y="5879592"/>
            <a:ext cx="42062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</a:rPr>
              <a:t>Small-cap funds showed higher downside risk compared with debt and liquid schemes.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Screenshots — Pages 1 &amp;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9/12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pic>
        <p:nvPicPr>
          <p:cNvPr id="7" name="Image 1" descr="/mnt/data/_report_assets/industry_dashboard.png">    </p:cNvPr>
          <p:cNvPicPr>
            <a:picLocks noChangeAspect="1"/>
          </p:cNvPicPr>
          <p:nvPr/>
        </p:nvPicPr>
        <p:blipFill>
          <a:blip r:embed="rId2"/>
          <a:srcRect l="16042" r="16042" t="0" b="0"/>
          <a:stretch/>
        </p:blipFill>
        <p:spPr>
          <a:xfrm>
            <a:off x="594360" y="960120"/>
            <a:ext cx="5303520" cy="4389120"/>
          </a:xfrm>
          <a:prstGeom prst="rect">
            <a:avLst/>
          </a:prstGeom>
        </p:spPr>
      </p:pic>
      <p:pic>
        <p:nvPicPr>
          <p:cNvPr id="8" name="Image 2" descr="/mnt/data/_report_assets/performance_dashboard.png">    </p:cNvPr>
          <p:cNvPicPr>
            <a:picLocks noChangeAspect="1"/>
          </p:cNvPicPr>
          <p:nvPr/>
        </p:nvPicPr>
        <p:blipFill>
          <a:blip r:embed="rId3"/>
          <a:srcRect l="16042" r="16042" t="0" b="0"/>
          <a:stretch/>
        </p:blipFill>
        <p:spPr>
          <a:xfrm>
            <a:off x="6263640" y="960120"/>
            <a:ext cx="5303520" cy="43891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5559552"/>
            <a:ext cx="5303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Overview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263640" y="5559552"/>
            <a:ext cx="5303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 Performance Analysis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Screenshots — Pages 3 &amp; 4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10/12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pic>
        <p:nvPicPr>
          <p:cNvPr id="7" name="Image 1" descr="/mnt/data/_report_assets/investor_dashboard.png">    </p:cNvPr>
          <p:cNvPicPr>
            <a:picLocks noChangeAspect="1"/>
          </p:cNvPicPr>
          <p:nvPr/>
        </p:nvPicPr>
        <p:blipFill>
          <a:blip r:embed="rId2"/>
          <a:srcRect l="16042" r="16042" t="0" b="0"/>
          <a:stretch/>
        </p:blipFill>
        <p:spPr>
          <a:xfrm>
            <a:off x="594360" y="960120"/>
            <a:ext cx="5303520" cy="4389120"/>
          </a:xfrm>
          <a:prstGeom prst="rect">
            <a:avLst/>
          </a:prstGeom>
        </p:spPr>
      </p:pic>
      <p:pic>
        <p:nvPicPr>
          <p:cNvPr id="8" name="Image 2" descr="/mnt/data/_report_assets/sip_dashboard.png">    </p:cNvPr>
          <p:cNvPicPr>
            <a:picLocks noChangeAspect="1"/>
          </p:cNvPicPr>
          <p:nvPr/>
        </p:nvPicPr>
        <p:blipFill>
          <a:blip r:embed="rId3"/>
          <a:srcRect l="16042" r="16042" t="0" b="0"/>
          <a:stretch/>
        </p:blipFill>
        <p:spPr>
          <a:xfrm>
            <a:off x="6263640" y="960120"/>
            <a:ext cx="5303520" cy="43891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5559552"/>
            <a:ext cx="5303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Analytics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263640" y="5559552"/>
            <a:ext cx="53035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SIP &amp; Market Trends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"/>
            <a:ext cx="475488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2011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 &amp; Recommendations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835640" y="2468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11/12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4048" y="647395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Bluestock Mutual Fund Analytics Capstone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9372600" y="6473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Doddi Satya Sai Sri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85800" y="941832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77240" y="1444752"/>
            <a:ext cx="480060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Risk-adjusted scorecard gives better fund comparison than return alone.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Small-cap schemes show higher downside VaR and CVaR risk.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2025 cohort shows higher average SIP amount than 2024 cohort.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Investor SIP gaps can indicate potential discontinuation risk.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Sector HHI highlights portfolios with concentration risk.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0" y="941832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6492240" y="1444752"/>
            <a:ext cx="4709160" cy="2423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</a:rPr>
              <a:t>Use multiple metrics: returns, Sharpe, Alpha, drawdown, VaR and CVaR.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Segment investors using cohort and SIP continuity insights.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Monitor concentration before recommending equity funds.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</a:rPr>
              <a:t>Extend recommender with investor goals, horizon and income profile.</a:t>
            </a:r>
            <a:endParaRPr lang="en-US" sz="1700" dirty="0"/>
          </a:p>
        </p:txBody>
      </p:sp>
      <p:pic>
        <p:nvPicPr>
          <p:cNvPr id="11" name="Image 1" descr="/mnt/data/_report_assets/cohort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84" y="4434840"/>
            <a:ext cx="2448391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_report_assets/bluestoc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87" y="658368"/>
            <a:ext cx="77480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8470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77240" y="260604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Bluestock Mutual Fund Analytics Capstone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77240" y="3291840"/>
            <a:ext cx="53035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Delivered assets: cleaned data, SQL, notebooks, advanced analytics outputs, Power BI dashboard, final report and GitHub repository.</a:t>
            </a:r>
            <a:endParaRPr lang="en-US" sz="1800" dirty="0"/>
          </a:p>
        </p:txBody>
      </p:sp>
      <p:pic>
        <p:nvPicPr>
          <p:cNvPr id="6" name="Image 1" descr="/mnt/data/_report_assets/nav_dashboard.png">    </p:cNvPr>
          <p:cNvPicPr>
            <a:picLocks noChangeAspect="1"/>
          </p:cNvPicPr>
          <p:nvPr/>
        </p:nvPicPr>
        <p:blipFill>
          <a:blip r:embed="rId2"/>
          <a:srcRect l="17711" r="17711" t="0" b="0"/>
          <a:stretch/>
        </p:blipFill>
        <p:spPr>
          <a:xfrm>
            <a:off x="6400800" y="841248"/>
            <a:ext cx="4937760" cy="4297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57424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Prepared by: Doddi Satya Sai Sri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Bluestock Fintech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 Presentation</dc:title>
  <dc:subject>Bluestock Mutual Fund Analytics Capstone Project</dc:subject>
  <dc:creator>Doddi Satya Sai Sri</dc:creator>
  <cp:lastModifiedBy>Doddi Satya Sai Sri</cp:lastModifiedBy>
  <cp:revision>1</cp:revision>
  <dcterms:created xsi:type="dcterms:W3CDTF">2026-08-16T15:35:12Z</dcterms:created>
  <dcterms:modified xsi:type="dcterms:W3CDTF">2026-08-16T15:35:12Z</dcterms:modified>
</cp:coreProperties>
</file>